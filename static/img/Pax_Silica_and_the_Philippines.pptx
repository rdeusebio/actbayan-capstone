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BRIEFING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Pax Silica and the Philippines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Coalition Membership to National Capability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7863840" cy="18288"/>
          </a:xfrm>
          <a:prstGeom prst="rect">
            <a:avLst/>
          </a:prstGeom>
          <a:solidFill>
            <a:srgbClr val="24304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6908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“Pax Silica is not the strategy. It is the opportunity architecture. The Philippine strategy is deciding what capabilities the country wants to own.”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Policy Analysis Deck  —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MOMENT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Global AI Supply-Chain Realignment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US–China technology competition is redrawing global supply chains for chips, compute, minerals, and energy — and pushing countries toward a strategic choice of alignment.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9576" y="260604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1179576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34290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Semiconductors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design, fabrication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advanced packaging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06624" y="23317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60604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16352" y="34290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Compute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843784" y="39319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GPUs, data centers,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training infrastructure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56048" y="23317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78424" y="260604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5678424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65776" y="34290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Minerals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93208" y="39319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Copper, nickel, cobalt,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earths for tech supply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05472" y="23317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27848" y="2606040"/>
            <a:ext cx="640080" cy="64008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2" name="Text 20"/>
          <p:cNvSpPr/>
          <p:nvPr/>
        </p:nvSpPr>
        <p:spPr>
          <a:xfrm>
            <a:off x="792784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34290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42632" y="39319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capacity to run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AI-scale industrial demand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54896" y="23317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4A6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77272" y="260604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7" name="Text 25"/>
          <p:cNvSpPr/>
          <p:nvPr/>
        </p:nvSpPr>
        <p:spPr>
          <a:xfrm>
            <a:off x="1017727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64624" y="34290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Adv. Manufacturing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592056" y="39319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Trusted, allied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ecosystems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COALITION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Pax Silica Actually Offers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2025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2128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by the US with 7 founding members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9443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4198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now participating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1513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April 2026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46268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 joined as the 13th signatory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937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“pax” (peace) with silica, the mineral base of computer chips.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1417320"/>
            <a:ext cx="6976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Membership Brings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1938528"/>
            <a:ext cx="256032" cy="256032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38928" y="1865376"/>
            <a:ext cx="6592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investment and development financing partnerships (e.g. US DFC)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2715768"/>
            <a:ext cx="256032" cy="256032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38928" y="2642616"/>
            <a:ext cx="6592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Technology-sharing arrangements and trusted, allied supply chains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3493008"/>
            <a:ext cx="256032" cy="256032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38928" y="3419856"/>
            <a:ext cx="6592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 and alignment on shared industrial standards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4270248"/>
            <a:ext cx="256032" cy="256032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4270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38928" y="4197096"/>
            <a:ext cx="6592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 as a Pax Silica “Golden Node” — an AI-native investment acceleration hub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5074920"/>
            <a:ext cx="6976872" cy="1051560"/>
          </a:xfrm>
          <a:prstGeom prst="roundRect">
            <a:avLst>
              <a:gd name="adj" fmla="val 5217"/>
            </a:avLst>
          </a:prstGeom>
          <a:solidFill>
            <a:srgbClr val="FBF3E7"/>
          </a:solidFill>
          <a:ln w="15875">
            <a:solidFill>
              <a:srgbClr val="E8AA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5184648"/>
            <a:ext cx="6519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5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5422392"/>
            <a:ext cx="6519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data-center project. BCDA maintains the site is predominantly industrial — any data centers built would serve co-located semiconductor firms, not hyperscale or global clients.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PHILIPPINES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Philippine Strategic Position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8A94A6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Minerals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Abundant copper, nickel, chromite and cobalt reserves — currently exported largely as low-value 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6824" y="150876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8A94A6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5424" y="173736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75504" y="169164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Base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2286000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US$84.48B in 2025 merchandise exports, led by semiconductors and electronics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8A94A6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5048" y="173736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25128" y="169164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Skilled Talent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5048" y="2286000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technical, English-proficient workforce with room to move up from BPO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8A94A6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56616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4160520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Clark's ex-military infrastructure plus Subic Bay port access for logistics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06824" y="338328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8A94A6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35424" y="361188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6" name="Text 24"/>
          <p:cNvSpPr/>
          <p:nvPr/>
        </p:nvSpPr>
        <p:spPr>
          <a:xfrm>
            <a:off x="4535424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75504" y="356616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Ties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35424" y="4160520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US and Japan investment and security partnerships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56448" y="338328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8A94A6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85048" y="361188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1" name="Text 29"/>
          <p:cNvSpPr/>
          <p:nvPr/>
        </p:nvSpPr>
        <p:spPr>
          <a:xfrm>
            <a:off x="8385048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25128" y="356616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Corridor Anchor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85048" y="4160520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node in the broader Luzon Economic Corridor development plan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Clark City: The AI-Native Industrial 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72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1,620 ha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 acres offered at New Clark City, Tarlac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4630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572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$40–70B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480560" y="21214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investment potential once fully developed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572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130K–190K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275320" y="21214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jobs; up to 800,000 more indirect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Full Development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261289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91840"/>
            <a:ext cx="2612898" cy="457200"/>
          </a:xfrm>
          <a:prstGeom prst="roundRect">
            <a:avLst>
              <a:gd name="adj" fmla="val 16000"/>
            </a:avLst>
          </a:prstGeom>
          <a:solidFill>
            <a:srgbClr val="3A6EA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547872"/>
            <a:ext cx="2612898" cy="201168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91840"/>
            <a:ext cx="2612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858768"/>
            <a:ext cx="2338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negotiation between PH and US governments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24378" y="33101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44418" y="3291840"/>
            <a:ext cx="261289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44418" y="3291840"/>
            <a:ext cx="2612898" cy="457200"/>
          </a:xfrm>
          <a:prstGeom prst="roundRect">
            <a:avLst>
              <a:gd name="adj" fmla="val 16000"/>
            </a:avLst>
          </a:prstGeom>
          <a:solidFill>
            <a:srgbClr val="3A6EA5"/>
          </a:solidFill>
          <a:ln/>
        </p:spPr>
      </p:sp>
      <p:sp>
        <p:nvSpPr>
          <p:cNvPr id="22" name="Shape 20"/>
          <p:cNvSpPr/>
          <p:nvPr/>
        </p:nvSpPr>
        <p:spPr>
          <a:xfrm>
            <a:off x="3344418" y="3547872"/>
            <a:ext cx="2612898" cy="201168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23" name="Text 21"/>
          <p:cNvSpPr/>
          <p:nvPr/>
        </p:nvSpPr>
        <p:spPr>
          <a:xfrm>
            <a:off x="3344418" y="3291840"/>
            <a:ext cx="2612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81578" y="3858768"/>
            <a:ext cx="2338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planning and disaster-risk (quake/flood) studies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11596" y="33101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31636" y="3291840"/>
            <a:ext cx="261289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1636" y="3291840"/>
            <a:ext cx="2612898" cy="457200"/>
          </a:xfrm>
          <a:prstGeom prst="roundRect">
            <a:avLst>
              <a:gd name="adj" fmla="val 16000"/>
            </a:avLst>
          </a:prstGeom>
          <a:solidFill>
            <a:srgbClr val="3A6EA5"/>
          </a:solidFill>
          <a:ln/>
        </p:spPr>
      </p:sp>
      <p:sp>
        <p:nvSpPr>
          <p:cNvPr id="28" name="Shape 26"/>
          <p:cNvSpPr/>
          <p:nvPr/>
        </p:nvSpPr>
        <p:spPr>
          <a:xfrm>
            <a:off x="6231636" y="3547872"/>
            <a:ext cx="2612898" cy="201168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29" name="Text 27"/>
          <p:cNvSpPr/>
          <p:nvPr/>
        </p:nvSpPr>
        <p:spPr>
          <a:xfrm>
            <a:off x="6231636" y="3291840"/>
            <a:ext cx="2612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68796" y="3858768"/>
            <a:ext cx="2338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First-phase construction begins on ~500 of 1,620 ha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98814" y="33101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118854" y="3291840"/>
            <a:ext cx="261289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18854" y="3291840"/>
            <a:ext cx="2612898" cy="457200"/>
          </a:xfrm>
          <a:prstGeom prst="roundRect">
            <a:avLst>
              <a:gd name="adj" fmla="val 16000"/>
            </a:avLst>
          </a:prstGeom>
          <a:solidFill>
            <a:srgbClr val="3A6EA5"/>
          </a:solidFill>
          <a:ln/>
        </p:spPr>
      </p:sp>
      <p:sp>
        <p:nvSpPr>
          <p:cNvPr id="34" name="Shape 32"/>
          <p:cNvSpPr/>
          <p:nvPr/>
        </p:nvSpPr>
        <p:spPr>
          <a:xfrm>
            <a:off x="9118854" y="3547872"/>
            <a:ext cx="2612898" cy="201168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35" name="Text 33"/>
          <p:cNvSpPr/>
          <p:nvPr/>
        </p:nvSpPr>
        <p:spPr>
          <a:xfrm>
            <a:off x="9118854" y="3291840"/>
            <a:ext cx="2612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 yrs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256014" y="3858768"/>
            <a:ext cx="2338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build-out; exports targeted to reach ~$200B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983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Foxconn named as anchor tenant; more than 50 firms, including several trillion-dollar technology companies, have expressed investment interest.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Can Philippine Value Capture Occur?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Philippines want to sit on this ladder — and how fast can it climb?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E8AA4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R&amp;D and Engineering Talent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7680960" cy="566928"/>
          </a:xfrm>
          <a:prstGeom prst="roundRect">
            <a:avLst>
              <a:gd name="adj" fmla="val 9677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060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 and Hardware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4612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Packaging and Testing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8862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Assembly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5262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Processing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16636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14213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51663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Mineral Exports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55480" y="1874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5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55480" y="5074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Is the Real Infrastructure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GW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peak power demand — large enough that BCDA is exploring supply from outside New Clark City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0" y="1417320"/>
            <a:ext cx="2404872" cy="2468880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1417320"/>
            <a:ext cx="2404872" cy="457200"/>
          </a:xfrm>
          <a:prstGeom prst="roundRect">
            <a:avLst>
              <a:gd name="adj" fmla="val 16000"/>
            </a:avLst>
          </a:prstGeom>
          <a:solidFill>
            <a:srgbClr val="3A6EA5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1673352"/>
            <a:ext cx="2404872" cy="201168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4173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+ Storage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79392" y="2011680"/>
            <a:ext cx="207568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GW solar / 500 MW storage ≈ one-third of demand; fastest to deploy, weather-dependent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20840" y="1417320"/>
            <a:ext cx="2404872" cy="2468880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1417320"/>
            <a:ext cx="2404872" cy="457200"/>
          </a:xfrm>
          <a:prstGeom prst="roundRect">
            <a:avLst>
              <a:gd name="adj" fmla="val 16000"/>
            </a:avLst>
          </a:prstGeom>
          <a:solidFill>
            <a:srgbClr val="3A6EA5"/>
          </a:solidFill>
          <a:ln/>
        </p:spPr>
      </p:sp>
      <p:sp>
        <p:nvSpPr>
          <p:cNvPr id="14" name="Shape 12"/>
          <p:cNvSpPr/>
          <p:nvPr/>
        </p:nvSpPr>
        <p:spPr>
          <a:xfrm>
            <a:off x="6720840" y="1673352"/>
            <a:ext cx="2404872" cy="201168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14173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85432" y="2011680"/>
            <a:ext cx="207568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GW of reliable capacity; most practical near-term option, extends fossil-fuel dependence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326880" y="1417320"/>
            <a:ext cx="2404872" cy="2468880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1417320"/>
            <a:ext cx="2404872" cy="457200"/>
          </a:xfrm>
          <a:prstGeom prst="roundRect">
            <a:avLst>
              <a:gd name="adj" fmla="val 16000"/>
            </a:avLst>
          </a:prstGeom>
          <a:solidFill>
            <a:srgbClr val="3A6EA5"/>
          </a:solidFill>
          <a:ln/>
        </p:spPr>
      </p:sp>
      <p:sp>
        <p:nvSpPr>
          <p:cNvPr id="19" name="Shape 17"/>
          <p:cNvSpPr/>
          <p:nvPr/>
        </p:nvSpPr>
        <p:spPr>
          <a:xfrm>
            <a:off x="9326880" y="1673352"/>
            <a:ext cx="2404872" cy="201168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14173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Nuclear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491472" y="2011680"/>
            <a:ext cx="207568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$6–10B+ per GW plus $0.5–2B waste costs; no permanent repository — treated as last resort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11274552" cy="105156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06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INTEREST ALREADY FORMING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4348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Maharlika Investment Fund is exploring a role; ACWA Power (Saudi Arabia) has committed up to $200M toward a solar-and-storage facility; I Squared Capital is studying fuel-pipeline infrastructure linking Subic and Clark.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Risks and Sovereignty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BF3E7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09928"/>
            <a:ext cx="384048" cy="384048"/>
          </a:xfrm>
          <a:prstGeom prst="ellipse">
            <a:avLst/>
          </a:prstGeom>
          <a:solidFill>
            <a:srgbClr val="C58A2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67335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Pressure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221992"/>
            <a:ext cx="3118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expectation that Pax Silica members choose between competing tech ecosystems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06824" y="150876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BF3E7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709928"/>
            <a:ext cx="384048" cy="384048"/>
          </a:xfrm>
          <a:prstGeom prst="ellipse">
            <a:avLst/>
          </a:prstGeom>
          <a:solidFill>
            <a:srgbClr val="C58A2A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0056" y="167335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99-Year Land Leases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35424" y="2221992"/>
            <a:ext cx="3118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leases floated for foreign investors — a real sovereignty trade-off for investment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BF3E7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1709928"/>
            <a:ext cx="384048" cy="384048"/>
          </a:xfrm>
          <a:prstGeom prst="ellipse">
            <a:avLst/>
          </a:prstGeom>
          <a:solidFill>
            <a:srgbClr val="C58A2A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69680" y="167335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Indigenous &amp; Land Rights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85048" y="2221992"/>
            <a:ext cx="3118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concerns persist despite BCDA citing 15,000 ha already allocated to IP groups in Clark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BF3E7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584448"/>
            <a:ext cx="384048" cy="384048"/>
          </a:xfrm>
          <a:prstGeom prst="ellipse">
            <a:avLst/>
          </a:prstGeom>
          <a:solidFill>
            <a:srgbClr val="C58A2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70432" y="354787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&amp; Environment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4096512"/>
            <a:ext cx="3118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industrial and cooling demand in a disaster-prone region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06824" y="338328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BF3E7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3584448"/>
            <a:ext cx="384048" cy="384048"/>
          </a:xfrm>
          <a:prstGeom prst="ellipse">
            <a:avLst/>
          </a:prstGeom>
          <a:solidFill>
            <a:srgbClr val="C58A2A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0056" y="354787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Drain vs. Retention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35424" y="4096512"/>
            <a:ext cx="3118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talent flowing outward even as the hub tries to build local careers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56448" y="338328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BF3E7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7616" y="3584448"/>
            <a:ext cx="384048" cy="384048"/>
          </a:xfrm>
          <a:prstGeom prst="ellipse">
            <a:avLst/>
          </a:prstGeom>
          <a:solidFill>
            <a:srgbClr val="C58A2A"/>
          </a:solidFill>
          <a:ln/>
        </p:spPr>
      </p:sp>
      <p:sp>
        <p:nvSpPr>
          <p:cNvPr id="31" name="Text 29"/>
          <p:cNvSpPr/>
          <p:nvPr/>
        </p:nvSpPr>
        <p:spPr>
          <a:xfrm>
            <a:off x="8357616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69680" y="354787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&amp; Data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85048" y="4096512"/>
            <a:ext cx="3118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and security exposure as AI infrastructure scales up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Philippine Pax Silica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2404872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investment, exports and domestic value-added — not just site leasing income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6824" y="150876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3A6EA5"/>
          </a:solidFill>
          <a:ln/>
        </p:spPr>
      </p:sp>
      <p:sp>
        <p:nvSpPr>
          <p:cNvPr id="9" name="Text 7"/>
          <p:cNvSpPr/>
          <p:nvPr/>
        </p:nvSpPr>
        <p:spPr>
          <a:xfrm>
            <a:off x="4535424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35424" y="20116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35424" y="2404872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for real knowledge and IP transfer, not assembly-only participation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6448" y="150876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8385048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5048" y="20116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&amp; Talent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85048" y="2404872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high-value engineering careers that reverse, not accelerate, brain drain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3A6EA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8862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&amp; Environment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85800" y="4279392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a sustainable, cost-transparent power mix before demand peaks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6824" y="338328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4535424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35424" y="38862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35424" y="4279392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firm limits on land tenure, data control and resource ownership terms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56448" y="338328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3A6EA5"/>
          </a:solidFill>
          <a:ln/>
        </p:spPr>
      </p:sp>
      <p:sp>
        <p:nvSpPr>
          <p:cNvPr id="25" name="Text 23"/>
          <p:cNvSpPr/>
          <p:nvPr/>
        </p:nvSpPr>
        <p:spPr>
          <a:xfrm>
            <a:off x="8385048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5048" y="38862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Geopolitics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85048" y="4279392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7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membership to widen strategic options — not narrow them to one bloc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2030 AMBITION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Membership to National Capability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10896" cy="310896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00253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/ advanced-electronics value-added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24328"/>
            <a:ext cx="310896" cy="310896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56946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semiconductor R&amp;D activity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91256"/>
            <a:ext cx="310896" cy="310896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13639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High-skilled engineering employment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58184"/>
            <a:ext cx="310896" cy="310896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7033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Critical-mineral processing (not just raw export)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25112"/>
            <a:ext cx="310896" cy="310896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27024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transfer and local supplier development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15544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0760" y="2057400"/>
            <a:ext cx="310896" cy="310896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200253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drain of skilled talent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2624328"/>
            <a:ext cx="310896" cy="310896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37960" y="256946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low-value assembly work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3191256"/>
            <a:ext cx="310896" cy="310896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37960" y="313639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supply-chain vulnerabilities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3758184"/>
            <a:ext cx="310896" cy="310896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37960" y="37033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environmental and land-use impact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80760" y="4325112"/>
            <a:ext cx="310896" cy="310896"/>
          </a:xfrm>
          <a:prstGeom prst="ellipse">
            <a:avLst/>
          </a:prstGeom>
          <a:solidFill>
            <a:srgbClr val="1F3A63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76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537960" y="427024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strategic dependence on one bloc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172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Pax Silica is the opportunity architecture. The strategy is deciding what capabilities the Philippines wants to own.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00023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2026-08-22T10:11:35Z</dcterms:created>
  <dcterms:modified xsi:type="dcterms:W3CDTF">2026-08-22T10:11:35Z</dcterms:modified>
</cp:coreProperties>
</file>